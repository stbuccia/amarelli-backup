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g" ContentType="image/jpeg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5" Type="http://schemas.openxmlformats.org/officeDocument/2006/relationships/viewProps" Target="viewProps.xml" /><Relationship Id="rId2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7" Type="http://schemas.openxmlformats.org/officeDocument/2006/relationships/tableStyles" Target="tableStyles.xml" /><Relationship Id="rId2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github.com/stbuccia/amarelli-backup/blob/main/wiki/Home.md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jp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jp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jp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jp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github.com/stbuccia/amarelli-backup" TargetMode="External" /><Relationship Id="rId3" Type="http://schemas.openxmlformats.org/officeDocument/2006/relationships/hyperlink" Target="https://github.com/stbuccia/amarelli-backup/blob/main/wiki/Home.md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Liquorice Backup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Un dispositivo di backup fotografico in una scatoletta di liquirizia</a:t>
            </a:r>
            <a:br/>
            <a:br/>
            <a:r>
              <a:rPr/>
              <a:t>Stefano Bucciarelli, Laboratorio di Making, A.A. 2025/26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Indice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Introduzione: demo, idea, funzionalità</a:t>
            </a:r>
          </a:p>
          <a:p>
            <a:pPr lvl="0"/>
            <a:r>
              <a:rPr/>
              <a:t>Hardware: part list, schema, saldature, stampa 3D, assemblaggio</a:t>
            </a:r>
          </a:p>
          <a:p>
            <a:pPr lvl="0"/>
            <a:r>
              <a:rPr/>
              <a:t>Software: configurazione, moduli, design pattern, caso d’uso</a:t>
            </a:r>
          </a:p>
          <a:p>
            <a:pPr lvl="0"/>
            <a:r>
              <a:rPr/>
              <a:t>Sviluppi futuri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Tre video nella home del progetto: </a:t>
            </a:r>
            <a:r>
              <a:rPr>
                <a:hlinkClick r:id="rId2"/>
              </a:rPr>
              <a:t>github.com/stbuccia/amarelli-backup</a:t>
            </a:r>
          </a:p>
          <a:p>
            <a:pPr lvl="0"/>
            <a:r>
              <a:rPr>
                <a:latin typeface="Courier"/>
              </a:rPr>
              <a:t>demo.mp4</a:t>
            </a:r>
            <a:r>
              <a:rPr/>
              <a:t>: caching, upload in background, pausa e ripresa</a:t>
            </a:r>
          </a:p>
          <a:p>
            <a:pPr lvl="0"/>
            <a:r>
              <a:rPr>
                <a:latin typeface="Courier"/>
              </a:rPr>
              <a:t>cover.mp4</a:t>
            </a:r>
            <a:r>
              <a:rPr/>
              <a:t>: chiusura del coperchio, blocco dello schermo</a:t>
            </a:r>
          </a:p>
          <a:p>
            <a:pPr lvl="0"/>
            <a:r>
              <a:rPr>
                <a:latin typeface="Courier"/>
              </a:rPr>
              <a:t>wifi.mp4</a:t>
            </a:r>
            <a:r>
              <a:rPr/>
              <a:t>: nuova rete Wi-Fi da access point e pagina web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L’idea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Esperienza personale in viaggio: no backup per la SD della fotocamera</a:t>
            </a:r>
          </a:p>
          <a:p>
            <a:pPr lvl="0"/>
            <a:r>
              <a:rPr/>
              <a:t>Nessun DIY open source che risolve il problema</a:t>
            </a:r>
          </a:p>
          <a:p>
            <a:pPr lvl="0"/>
            <a:r>
              <a:rPr/>
              <a:t>Collezionista involontario di scatolette Amarelli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Funzionalità e impostazioni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Destinazione: qualsiasi remoto </a:t>
            </a:r>
            <a:r>
              <a:rPr>
                <a:latin typeface="Courier"/>
              </a:rPr>
              <a:t>rclone</a:t>
            </a:r>
            <a:r>
              <a:rPr/>
              <a:t> (Dropbox, Drive, S3, Backblaze, SFTP), WebDAV nativo o un percorso locale</a:t>
            </a:r>
          </a:p>
          <a:p>
            <a:pPr lvl="0"/>
            <a:r>
              <a:rPr b="1"/>
              <a:t>Mirroring</a:t>
            </a:r>
            <a:r>
              <a:rPr/>
              <a:t>: le cancellazioni sulla SD si propagano al remoto</a:t>
            </a:r>
          </a:p>
          <a:p>
            <a:pPr lvl="1"/>
            <a:r>
              <a:rPr/>
              <a:t>remoto svuotato → nuova destinazione, nessun ri-upload dei vecchi file</a:t>
            </a:r>
          </a:p>
          <a:p>
            <a:pPr lvl="0"/>
            <a:r>
              <a:rPr b="1"/>
              <a:t>Pruning</a:t>
            </a:r>
            <a:r>
              <a:rPr/>
              <a:t> della cache: subito, dopo 7 giorni, dopo 30 giorni, conserva</a:t>
            </a:r>
          </a:p>
          <a:p>
            <a:pPr lvl="0"/>
            <a:r>
              <a:rPr/>
              <a:t>Filtro file: tutti, foto (JPG+RAW), solo JPG</a:t>
            </a:r>
          </a:p>
          <a:p>
            <a:pPr lvl="0"/>
            <a:r>
              <a:rPr/>
              <a:t>Modalità: manuale passo a passo o automatica a latta chiusa (LED)</a:t>
            </a:r>
          </a:p>
          <a:p>
            <a:pPr lvl="0"/>
            <a:r>
              <a:rPr/>
              <a:t>Ogni impostazione da menù a bordo o dalla pagina web, salvata su </a:t>
            </a:r>
            <a:r>
              <a:rPr>
                <a:latin typeface="Courier"/>
              </a:rPr>
              <a:t>config.json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 Hardware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Part list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Componente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Ruolo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Prezzo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 uso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Raspberry Pi Zero 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cervello, Wi-Fi integrato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34,51 €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Sì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Waveshare 2.13” e-Paper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schermo, CE0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14,69 €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Sì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Lettore microSD SPI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scheda fotocamera, CE1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2,07 €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Sì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LED WS2812B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stato a latta chiusa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2,09 €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Sì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 pulsanti 6 × 6 × 6 mm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interfaccia input utente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1,29 €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Sì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Reed switch + magnete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coperchio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8,69 €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Sì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PowerBoost 1000C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boost 5 V + power path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n.d.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MAX17043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fuel gauge I²C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n.d.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LiPo 803450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batteria 1500 mAh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n.d.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Part list: note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Totale: </a:t>
            </a:r>
            <a:r>
              <a:rPr b="1"/>
              <a:t>110,71 €</a:t>
            </a:r>
            <a:r>
              <a:rPr/>
              <a:t> + spedizione, con sd, latta, viti, fili e biadesivo</a:t>
            </a:r>
          </a:p>
          <a:p>
            <a:pPr lvl="0"/>
            <a:r>
              <a:rPr/>
              <a:t>Microcomputer per esclusione: Pi 3/4/5 grandi, Pico senza OS, CM senza header</a:t>
            </a:r>
          </a:p>
          <a:p>
            <a:pPr lvl="0"/>
            <a:r>
              <a:rPr/>
              <a:t>Lettore SD su SPI e non sulla porta USB</a:t>
            </a:r>
          </a:p>
          <a:p>
            <a:pPr lvl="0"/>
            <a:r>
              <a:rPr/>
              <a:t>E-paper e non LCD: bistabile, leggibile al sole, refresh lento accettabile</a:t>
            </a:r>
          </a:p>
          <a:p>
            <a:pPr lvl="0"/>
            <a:r>
              <a:rPr/>
              <a:t>Reed in plastica: quelli in ampolla di vetro si sono rotti</a:t>
            </a:r>
          </a:p>
          <a:p>
            <a:pPr lvl="0"/>
            <a:r>
              <a:rPr/>
              <a:t>Alimentazione finale: micro-USB, niente batteria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Il lettore SD si è rotto</a:t>
            </a:r>
          </a:p>
        </p:txBody>
      </p:sp>
      <p:pic>
        <p:nvPicPr>
          <p:cNvPr descr="img/sd-mounting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333500"/>
            <a:ext cx="4038600" cy="311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Rotto progressivamente in pochi giorni</a:t>
            </a:r>
          </a:p>
          <a:p>
            <a:pPr lvl="0"/>
            <a:r>
              <a:rPr/>
              <a:t>Scheda rilevata a tratti, poi più nulla</a:t>
            </a:r>
          </a:p>
          <a:p>
            <a:pPr lvl="0"/>
            <a:r>
              <a:rPr/>
              <a:t>Pipeline ok con Fake SD e cache</a:t>
            </a:r>
          </a:p>
          <a:p>
            <a:pPr lvl="0"/>
            <a:r>
              <a:rPr/>
              <a:t>Ipotesi scartata: contatti del modulo SPI</a:t>
            </a:r>
          </a:p>
          <a:p>
            <a:pPr lvl="0"/>
            <a:r>
              <a:rPr/>
              <a:t>Modulo da sostituire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Schema finale</a:t>
            </a:r>
          </a:p>
        </p:txBody>
      </p:sp>
      <p:pic>
        <p:nvPicPr>
          <p:cNvPr descr="img/schematic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38400" y="1193800"/>
            <a:ext cx="42672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Datasheet, collegamenti con net label. RST su BCM 27 perché BCM 17 è danneggiato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Schema finale</a:t>
            </a:r>
          </a:p>
        </p:txBody>
      </p:sp>
      <p:pic>
        <p:nvPicPr>
          <p:cNvPr descr="img/schematic-batter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984500" y="1193800"/>
            <a:ext cx="3175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Datasheet alimentazione batteria (non in uso)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Saldature e cablaggio</a:t>
            </a:r>
          </a:p>
        </p:txBody>
      </p:sp>
      <p:pic>
        <p:nvPicPr>
          <p:cNvPr descr="img/wiring-pair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120900"/>
            <a:ext cx="4038600" cy="1524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Perma proto board delle dimensioni esatte</a:t>
            </a:r>
          </a:p>
          <a:p>
            <a:pPr lvl="0"/>
            <a:r>
              <a:rPr/>
              <a:t>Componenti tutti sul lato frontale</a:t>
            </a:r>
          </a:p>
          <a:p>
            <a:pPr lvl="0"/>
            <a:r>
              <a:rPr/>
              <a:t>Pi: facce opposte, 8 fili</a:t>
            </a:r>
          </a:p>
          <a:p>
            <a:pPr lvl="0"/>
            <a:r>
              <a:rPr/>
              <a:t>MOSI/CLK sulla colona del lettore SD</a:t>
            </a:r>
          </a:p>
          <a:p>
            <a:pPr lvl="0"/>
            <a:r>
              <a:rPr/>
              <a:t>Cablaggio tutto sul retro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Stampa 3D</a:t>
            </a:r>
          </a:p>
        </p:txBody>
      </p:sp>
      <p:pic>
        <p:nvPicPr>
          <p:cNvPr descr="img/parts-trio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485900"/>
            <a:ext cx="8229600" cy="2298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Base (solleva la board), topper (schermo e pulsanti, gradino → supporti), cover (maschera di foratura)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Assemblaggio</a:t>
            </a:r>
          </a:p>
        </p:txBody>
      </p:sp>
      <p:pic>
        <p:nvPicPr>
          <p:cNvPr descr="img/assembly-pair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62000" y="1193800"/>
            <a:ext cx="7620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Fori segnati con la cover e rifiniti a mano, poi base, board e topper avvitati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 Software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Configurazione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Raspberry Pi OS Lite 32 bit, tutto in </a:t>
            </a:r>
            <a:r>
              <a:rPr>
                <a:latin typeface="Courier"/>
              </a:rPr>
              <a:t>install.sh</a:t>
            </a:r>
            <a:r>
              <a:rPr/>
              <a:t> (idempotente)</a:t>
            </a:r>
          </a:p>
          <a:p>
            <a:pPr lvl="0"/>
            <a:r>
              <a:rPr/>
              <a:t>Lettore SD: </a:t>
            </a:r>
            <a:r>
              <a:rPr>
                <a:latin typeface="Courier"/>
              </a:rPr>
              <a:t>dtparam=spi=on</a:t>
            </a:r>
            <a:r>
              <a:rPr/>
              <a:t> + device tree overlay</a:t>
            </a:r>
          </a:p>
          <a:p>
            <a:pPr lvl="0"/>
            <a:r>
              <a:rPr/>
              <a:t>Display </a:t>
            </a:r>
            <a:r>
              <a:rPr>
                <a:latin typeface="Courier"/>
              </a:rPr>
              <a:t>spidev0.0</a:t>
            </a:r>
            <a:r>
              <a:rPr/>
              <a:t>, lettore </a:t>
            </a:r>
            <a:r>
              <a:rPr>
                <a:latin typeface="Courier"/>
              </a:rPr>
              <a:t>spidev0.1</a:t>
            </a:r>
            <a:r>
              <a:rPr/>
              <a:t>, scheda </a:t>
            </a:r>
            <a:r>
              <a:rPr>
                <a:latin typeface="Courier"/>
              </a:rPr>
              <a:t>/dev/mmcblk1</a:t>
            </a:r>
          </a:p>
          <a:p>
            <a:pPr lvl="0"/>
            <a:r>
              <a:rPr/>
              <a:t>Driver Waveshare: patch </a:t>
            </a:r>
            <a:r>
              <a:rPr>
                <a:latin typeface="Courier"/>
              </a:rPr>
              <a:t>sed</a:t>
            </a:r>
            <a:r>
              <a:rPr/>
              <a:t> del reset BCM 17 → 27</a:t>
            </a:r>
          </a:p>
          <a:p>
            <a:pPr lvl="0"/>
            <a:r>
              <a:rPr/>
              <a:t>systemd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Moduli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main.py</a:t>
            </a:r>
            <a:r>
              <a:rPr/>
              <a:t> orchestrazione, loop</a:t>
            </a:r>
          </a:p>
          <a:p>
            <a:pPr lvl="0"/>
            <a:r>
              <a:rPr>
                <a:latin typeface="Courier"/>
              </a:rPr>
              <a:t>backup.py</a:t>
            </a:r>
            <a:r>
              <a:rPr/>
              <a:t> macchina a stati: </a:t>
            </a:r>
            <a:r>
              <a:rPr>
                <a:latin typeface="Courier"/>
              </a:rPr>
              <a:t>cache.py</a:t>
            </a:r>
            <a:r>
              <a:rPr/>
              <a:t> copia e pruning, </a:t>
            </a:r>
            <a:r>
              <a:rPr>
                <a:latin typeface="Courier"/>
              </a:rPr>
              <a:t>uploader.py</a:t>
            </a:r>
            <a:r>
              <a:rPr/>
              <a:t> webdav / rclone</a:t>
            </a:r>
          </a:p>
          <a:p>
            <a:pPr lvl="0"/>
            <a:r>
              <a:rPr>
                <a:latin typeface="Courier"/>
              </a:rPr>
              <a:t>menu.py</a:t>
            </a:r>
            <a:r>
              <a:rPr/>
              <a:t> gestione del menu</a:t>
            </a:r>
          </a:p>
          <a:p>
            <a:pPr lvl="0"/>
            <a:r>
              <a:rPr>
                <a:latin typeface="Courier"/>
              </a:rPr>
              <a:t>config.py</a:t>
            </a:r>
            <a:r>
              <a:rPr/>
              <a:t> file di configurazione</a:t>
            </a:r>
          </a:p>
          <a:p>
            <a:pPr lvl="0"/>
            <a:r>
              <a:rPr>
                <a:latin typeface="Courier"/>
              </a:rPr>
              <a:t>database.py</a:t>
            </a:r>
            <a:r>
              <a:rPr/>
              <a:t> SQLite</a:t>
            </a:r>
          </a:p>
          <a:p>
            <a:pPr lvl="0"/>
            <a:r>
              <a:rPr>
                <a:latin typeface="Courier"/>
              </a:rPr>
              <a:t>wifi.py</a:t>
            </a:r>
            <a:r>
              <a:rPr/>
              <a:t> access point, </a:t>
            </a:r>
            <a:r>
              <a:rPr>
                <a:latin typeface="Courier"/>
              </a:rPr>
              <a:t>flask_app.py</a:t>
            </a:r>
            <a:r>
              <a:rPr/>
              <a:t> web</a:t>
            </a:r>
          </a:p>
          <a:p>
            <a:pPr lvl="0"/>
            <a:r>
              <a:rPr>
                <a:latin typeface="Courier"/>
              </a:rPr>
              <a:t>keylistener.py</a:t>
            </a:r>
            <a:r>
              <a:rPr/>
              <a:t>: interfaccia di input</a:t>
            </a:r>
          </a:p>
          <a:p>
            <a:pPr lvl="0"/>
            <a:r>
              <a:rPr>
                <a:latin typeface="Courier"/>
              </a:rPr>
              <a:t>display.py</a:t>
            </a:r>
            <a:r>
              <a:rPr/>
              <a:t> e </a:t>
            </a:r>
            <a:r>
              <a:rPr>
                <a:latin typeface="Courier"/>
              </a:rPr>
              <a:t>led_status.py</a:t>
            </a:r>
            <a:r>
              <a:rPr/>
              <a:t> interfaccia di output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Design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Event bus: </a:t>
            </a:r>
            <a:r>
              <a:rPr>
                <a:latin typeface="Courier"/>
              </a:rPr>
              <a:t>on()</a:t>
            </a:r>
            <a:r>
              <a:rPr/>
              <a:t> / </a:t>
            </a:r>
            <a:r>
              <a:rPr>
                <a:latin typeface="Courier"/>
              </a:rPr>
              <a:t>emit()</a:t>
            </a:r>
          </a:p>
          <a:p>
            <a:pPr lvl="0"/>
            <a:r>
              <a:rPr/>
              <a:t>Macchina a stati (</a:t>
            </a:r>
            <a:r>
              <a:rPr>
                <a:latin typeface="Courier"/>
              </a:rPr>
              <a:t>backup.py</a:t>
            </a:r>
            <a:r>
              <a:rPr/>
              <a:t>): IDLE, CACHING, UPLOADING, PRUNING, REMOVING, PAUSED, RETRYING, ERROR, DONE</a:t>
            </a:r>
          </a:p>
          <a:p>
            <a:pPr lvl="0"/>
            <a:r>
              <a:rPr/>
              <a:t>Repository (</a:t>
            </a:r>
            <a:r>
              <a:rPr>
                <a:latin typeface="Courier"/>
              </a:rPr>
              <a:t>database.py</a:t>
            </a:r>
            <a:r>
              <a:rPr/>
              <a:t>): SQL solo qui, </a:t>
            </a:r>
            <a:r>
              <a:rPr>
                <a:latin typeface="Courier"/>
              </a:rPr>
              <a:t>FileRecord</a:t>
            </a:r>
          </a:p>
          <a:p>
            <a:pPr lvl="0"/>
            <a:r>
              <a:rPr/>
              <a:t>Template method + strategy (</a:t>
            </a:r>
            <a:r>
              <a:rPr>
                <a:latin typeface="Courier"/>
              </a:rPr>
              <a:t>uploader.py</a:t>
            </a:r>
            <a:r>
              <a:rPr/>
              <a:t>)</a:t>
            </a:r>
          </a:p>
          <a:p>
            <a:pPr lvl="1"/>
            <a:r>
              <a:rPr/>
              <a:t>sottoclassi: </a:t>
            </a:r>
            <a:r>
              <a:rPr>
                <a:latin typeface="Courier"/>
              </a:rPr>
              <a:t>ensure_remote_dir()</a:t>
            </a:r>
            <a:r>
              <a:rPr/>
              <a:t>, </a:t>
            </a:r>
            <a:r>
              <a:rPr>
                <a:latin typeface="Courier"/>
              </a:rPr>
              <a:t>put()</a:t>
            </a:r>
            <a:r>
              <a:rPr/>
              <a:t>, </a:t>
            </a:r>
            <a:r>
              <a:rPr>
                <a:latin typeface="Courier"/>
              </a:rPr>
              <a:t>delete()</a:t>
            </a:r>
          </a:p>
          <a:p>
            <a:pPr lvl="0"/>
            <a:r>
              <a:rPr/>
              <a:t>Composite (menù): struttura ad albero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Caso pratico: caching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BCM 19 a massa → coda</a:t>
            </a:r>
          </a:p>
          <a:p>
            <a:pPr lvl="0"/>
            <a:r>
              <a:rPr/>
              <a:t>Main: vista attiva + stato → stato e </a:t>
            </a:r>
            <a:r>
              <a:rPr>
                <a:latin typeface="Courier"/>
              </a:rPr>
              <a:t>IDLE</a:t>
            </a:r>
            <a:r>
              <a:rPr/>
              <a:t> = avvia</a:t>
            </a:r>
          </a:p>
          <a:p>
            <a:pPr lvl="0"/>
            <a:r>
              <a:rPr/>
              <a:t>Mount ritentato; con soli pendenti si parte senza scheda</a:t>
            </a:r>
          </a:p>
          <a:p>
            <a:pPr lvl="0"/>
            <a:r>
              <a:rPr>
                <a:latin typeface="Courier"/>
              </a:rPr>
              <a:t>Backup.start()</a:t>
            </a:r>
            <a:r>
              <a:rPr/>
              <a:t>: impostazioni congelate, thread avviato</a:t>
            </a:r>
          </a:p>
          <a:p>
            <a:pPr lvl="0"/>
            <a:r>
              <a:rPr/>
              <a:t>Filtro estensione, confronto dimensione/mtime con il DB</a:t>
            </a:r>
          </a:p>
          <a:p>
            <a:pPr lvl="0"/>
            <a:r>
              <a:rPr>
                <a:latin typeface="Courier"/>
              </a:rPr>
              <a:t>backup:state</a:t>
            </a:r>
            <a:r>
              <a:rPr/>
              <a:t> a ogni transizione → fase sullo schermo, LED blu lampeggiante</a:t>
            </a:r>
          </a:p>
          <a:p>
            <a:pPr lvl="0"/>
            <a:r>
              <a:rPr>
                <a:latin typeface="Courier"/>
              </a:rPr>
              <a:t>cache:file</a:t>
            </a:r>
            <a:r>
              <a:rPr/>
              <a:t> per ogni file scandito → avanza la barra e contatori display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Caso pratico: upload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Pendenti dal DB, struttura di cartelle preservata</a:t>
            </a:r>
          </a:p>
          <a:p>
            <a:pPr lvl="0"/>
            <a:r>
              <a:rPr/>
              <a:t>Stato dedotto dai timestamp (</a:t>
            </a:r>
            <a:r>
              <a:rPr>
                <a:latin typeface="Courier"/>
              </a:rPr>
              <a:t>cached_at</a:t>
            </a:r>
            <a:r>
              <a:rPr/>
              <a:t>, </a:t>
            </a:r>
            <a:r>
              <a:rPr>
                <a:latin typeface="Courier"/>
              </a:rPr>
              <a:t>uploaded_at</a:t>
            </a:r>
            <a:r>
              <a:rPr/>
              <a:t>)</a:t>
            </a:r>
          </a:p>
          <a:p>
            <a:pPr lvl="0"/>
            <a:r>
              <a:rPr/>
              <a:t>Idempotenza: interruzione a metà → riprende senza ripristino</a:t>
            </a:r>
          </a:p>
          <a:p>
            <a:pPr lvl="0"/>
            <a:r>
              <a:rPr>
                <a:latin typeface="Courier"/>
              </a:rPr>
              <a:t>file:uploaded</a:t>
            </a:r>
            <a:r>
              <a:rPr/>
              <a:t> a conferma di un trasferimento</a:t>
            </a:r>
          </a:p>
          <a:p>
            <a:pPr lvl="1"/>
            <a:r>
              <a:rPr/>
              <a:t>display: barra, nome del file, contatori; nessun accoppiamento con il core</a:t>
            </a:r>
          </a:p>
          <a:p>
            <a:pPr lvl="0"/>
            <a:r>
              <a:rPr/>
              <a:t>Pruning locale (upload) o pulizia del remoto (mirror): </a:t>
            </a:r>
            <a:r>
              <a:rPr>
                <a:latin typeface="Courier"/>
              </a:rPr>
              <a:t>file:pruned</a:t>
            </a:r>
            <a:r>
              <a:rPr/>
              <a:t>, </a:t>
            </a:r>
            <a:r>
              <a:rPr>
                <a:latin typeface="Courier"/>
              </a:rPr>
              <a:t>file:remote_deleted</a:t>
            </a:r>
          </a:p>
          <a:p>
            <a:pPr lvl="0"/>
            <a:r>
              <a:rPr>
                <a:latin typeface="Courier"/>
              </a:rPr>
              <a:t>backup:state</a:t>
            </a:r>
            <a:r>
              <a:rPr/>
              <a:t> con </a:t>
            </a:r>
            <a:r>
              <a:rPr>
                <a:latin typeface="Courier"/>
              </a:rPr>
              <a:t>COMPLETED</a:t>
            </a:r>
            <a:r>
              <a:rPr/>
              <a:t>: statistiche, “Done”, LED verde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 Sviluppi futuri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Lettore SD: Rimpiazzare con un nuovo modulo</a:t>
            </a:r>
          </a:p>
          <a:p>
            <a:pPr lvl="0"/>
            <a:r>
              <a:rPr/>
              <a:t>Batteria: Alternativa a PowerBoost 1000C (PowerBoost 1000 Basic)</a:t>
            </a:r>
          </a:p>
          <a:p>
            <a:pPr lvl="0"/>
            <a:r>
              <a:rPr/>
              <a:t>Pulsanti più alti: topper piano, stampabile senza supporti e migliore pressione</a:t>
            </a:r>
          </a:p>
          <a:p>
            <a:pPr lvl="0"/>
            <a:r>
              <a:rPr/>
              <a:t>PCB: schema pronto, circuito già validato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Grazie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Repository: </a:t>
            </a:r>
            <a:r>
              <a:rPr>
                <a:hlinkClick r:id="rId2"/>
              </a:rPr>
              <a:t>github.com/stbuccia/amarelli-backup</a:t>
            </a:r>
          </a:p>
          <a:p>
            <a:pPr lvl="0"/>
            <a:r>
              <a:rPr/>
              <a:t>Documentazione utente e demo: </a:t>
            </a:r>
            <a:r>
              <a:rPr>
                <a:hlinkClick r:id="rId3"/>
              </a:rPr>
              <a:t>wiki/Home.md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Liquorice Backup</dc:title>
  <dc:creator>Stefano Bucciarelli, Laboratorio di Making, A.A. 2025/26</dc:creator>
  <cp:keywords/>
  <dcterms:created xsi:type="dcterms:W3CDTF">2026-09-14T22:17:16Z</dcterms:created>
  <dcterms:modified xsi:type="dcterms:W3CDTF">2026-09-14T22:17:16Z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ubtitle">
    <vt:lpwstr>Un dispositivo di backup fotografico in una scatoletta di liquirizia</vt:lpwstr>
  </property>
</Properties>
</file>